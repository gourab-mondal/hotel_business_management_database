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291840" cy="3291840"/>
          </a:xfrm>
          <a:prstGeom prst="ellipse">
            <a:avLst/>
          </a:prstGeom>
          <a:solidFill>
            <a:srgbClr val="161C4A"/>
          </a:solidFill>
          <a:ln/>
        </p:spPr>
      </p:sp>
      <p:pic>
        <p:nvPicPr>
          <p:cNvPr id="4" name="Image 0" descr="/home/claude/hotel_ppt/icon_hotel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MANAGEMENT DATABASE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30632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built in MySQL to model real hotel operations —</a:t>
            </a:r>
            <a:endParaRPr lang="en-US" sz="16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room stays and food orders to payments, staffing, and profitability.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4160520"/>
            <a:ext cx="0" cy="0"/>
          </a:xfrm>
          <a:prstGeom prst="line">
            <a:avLst/>
          </a:prstGeom>
          <a:noFill/>
          <a:ln/>
        </p:spPr>
      </p:sp>
      <p:sp>
        <p:nvSpPr>
          <p:cNvPr id="8" name="Shape 5"/>
          <p:cNvSpPr/>
          <p:nvPr/>
        </p:nvSpPr>
        <p:spPr>
          <a:xfrm>
            <a:off x="822960" y="434340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61C4A"/>
          </a:solidFill>
          <a:ln w="12700">
            <a:solidFill>
              <a:srgbClr val="C9A9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3434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8.0+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304288" y="4343400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161C4A"/>
          </a:solidFill>
          <a:ln w="12700">
            <a:solidFill>
              <a:srgbClr val="C9A9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04288" y="43434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Relational Tables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45736" y="4343400"/>
            <a:ext cx="2432304" cy="384048"/>
          </a:xfrm>
          <a:prstGeom prst="roundRect">
            <a:avLst>
              <a:gd name="adj" fmla="val 19048"/>
            </a:avLst>
          </a:prstGeom>
          <a:solidFill>
            <a:srgbClr val="161C4A"/>
          </a:solidFill>
          <a:ln w="12700">
            <a:solidFill>
              <a:srgbClr val="C9A9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45736" y="4343400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Business-Driven Design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C9A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→ SQL → Business Understanding → Data Analysis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hotel operations to build a database that answers real business questions — not just SQL syntax practice.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hotel_ppt/icon_be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9979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3794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stays &amp; room allocation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34440" y="213969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who stayed where, and for how long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hotel_ppt/icon_utensil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95808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79806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ordering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34440" y="30998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Multi-item orders tied to guest stays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hotel_ppt/icon_coin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91820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75818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34440" y="405993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Successful, pending, and failed transactions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hotel_ppt/icon_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87832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71830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attendance &amp; performance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34440" y="50200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 and periodic reviews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172200" y="182880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F4F6FC"/>
          </a:solidFill>
          <a:ln/>
        </p:spPr>
      </p:sp>
      <p:sp>
        <p:nvSpPr>
          <p:cNvPr id="21" name="Text 15"/>
          <p:cNvSpPr/>
          <p:nvPr/>
        </p:nvSpPr>
        <p:spPr>
          <a:xfrm>
            <a:off x="6492240" y="2057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492240" y="248716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17"/>
          <p:cNvSpPr/>
          <p:nvPr/>
        </p:nvSpPr>
        <p:spPr>
          <a:xfrm>
            <a:off x="6492240" y="2487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967728" y="246888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Business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647688" y="2798064"/>
            <a:ext cx="0" cy="114300"/>
          </a:xfrm>
          <a:prstGeom prst="line">
            <a:avLst/>
          </a:prstGeom>
          <a:noFill/>
          <a:ln w="15875">
            <a:solidFill>
              <a:srgbClr val="C9A94F"/>
            </a:solidFill>
            <a:prstDash val="sysDot"/>
          </a:ln>
        </p:spPr>
      </p:sp>
      <p:sp>
        <p:nvSpPr>
          <p:cNvPr id="26" name="Shape 20"/>
          <p:cNvSpPr/>
          <p:nvPr/>
        </p:nvSpPr>
        <p:spPr>
          <a:xfrm>
            <a:off x="6492240" y="291236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1"/>
          <p:cNvSpPr/>
          <p:nvPr/>
        </p:nvSpPr>
        <p:spPr>
          <a:xfrm>
            <a:off x="6492240" y="29123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967728" y="289407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Entities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6647688" y="3223260"/>
            <a:ext cx="0" cy="114300"/>
          </a:xfrm>
          <a:prstGeom prst="line">
            <a:avLst/>
          </a:prstGeom>
          <a:noFill/>
          <a:ln w="15875">
            <a:solidFill>
              <a:srgbClr val="C9A94F"/>
            </a:solidFill>
            <a:prstDash val="sysDot"/>
          </a:ln>
        </p:spPr>
      </p:sp>
      <p:sp>
        <p:nvSpPr>
          <p:cNvPr id="30" name="Shape 24"/>
          <p:cNvSpPr/>
          <p:nvPr/>
        </p:nvSpPr>
        <p:spPr>
          <a:xfrm>
            <a:off x="6492240" y="333756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5"/>
          <p:cNvSpPr/>
          <p:nvPr/>
        </p:nvSpPr>
        <p:spPr>
          <a:xfrm>
            <a:off x="6492240" y="3337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967728" y="331927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Relationships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6647688" y="3648456"/>
            <a:ext cx="0" cy="114300"/>
          </a:xfrm>
          <a:prstGeom prst="line">
            <a:avLst/>
          </a:prstGeom>
          <a:noFill/>
          <a:ln w="15875">
            <a:solidFill>
              <a:srgbClr val="C9A94F"/>
            </a:solidFill>
            <a:prstDash val="sysDot"/>
          </a:ln>
        </p:spPr>
      </p:sp>
      <p:sp>
        <p:nvSpPr>
          <p:cNvPr id="34" name="Shape 28"/>
          <p:cNvSpPr/>
          <p:nvPr/>
        </p:nvSpPr>
        <p:spPr>
          <a:xfrm>
            <a:off x="6492240" y="376275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29"/>
          <p:cNvSpPr/>
          <p:nvPr/>
        </p:nvSpPr>
        <p:spPr>
          <a:xfrm>
            <a:off x="6492240" y="37627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967728" y="374446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Schema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6647688" y="4073652"/>
            <a:ext cx="0" cy="114300"/>
          </a:xfrm>
          <a:prstGeom prst="line">
            <a:avLst/>
          </a:prstGeom>
          <a:noFill/>
          <a:ln w="15875">
            <a:solidFill>
              <a:srgbClr val="C9A94F"/>
            </a:solidFill>
            <a:prstDash val="sysDot"/>
          </a:ln>
        </p:spPr>
      </p:sp>
      <p:sp>
        <p:nvSpPr>
          <p:cNvPr id="38" name="Shape 32"/>
          <p:cNvSpPr/>
          <p:nvPr/>
        </p:nvSpPr>
        <p:spPr>
          <a:xfrm>
            <a:off x="6492240" y="418795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Text 33"/>
          <p:cNvSpPr/>
          <p:nvPr/>
        </p:nvSpPr>
        <p:spPr>
          <a:xfrm>
            <a:off x="6492240" y="4187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6967728" y="416966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Constraints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6647688" y="4498848"/>
            <a:ext cx="0" cy="114300"/>
          </a:xfrm>
          <a:prstGeom prst="line">
            <a:avLst/>
          </a:prstGeom>
          <a:noFill/>
          <a:ln w="15875">
            <a:solidFill>
              <a:srgbClr val="C9A94F"/>
            </a:solidFill>
            <a:prstDash val="sysDot"/>
          </a:ln>
        </p:spPr>
      </p:sp>
      <p:sp>
        <p:nvSpPr>
          <p:cNvPr id="42" name="Shape 36"/>
          <p:cNvSpPr/>
          <p:nvPr/>
        </p:nvSpPr>
        <p:spPr>
          <a:xfrm>
            <a:off x="6492240" y="461314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Text 37"/>
          <p:cNvSpPr/>
          <p:nvPr/>
        </p:nvSpPr>
        <p:spPr>
          <a:xfrm>
            <a:off x="6492240" y="46131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6967728" y="459486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Structured Data</a:t>
            </a:r>
            <a:endParaRPr lang="en-US" sz="1300" dirty="0"/>
          </a:p>
        </p:txBody>
      </p:sp>
      <p:sp>
        <p:nvSpPr>
          <p:cNvPr id="45" name="Shape 39"/>
          <p:cNvSpPr/>
          <p:nvPr/>
        </p:nvSpPr>
        <p:spPr>
          <a:xfrm>
            <a:off x="6647688" y="4924044"/>
            <a:ext cx="0" cy="114300"/>
          </a:xfrm>
          <a:prstGeom prst="line">
            <a:avLst/>
          </a:prstGeom>
          <a:noFill/>
          <a:ln w="15875">
            <a:solidFill>
              <a:srgbClr val="C9A94F"/>
            </a:solidFill>
            <a:prstDash val="sysDot"/>
          </a:ln>
        </p:spPr>
      </p:sp>
      <p:sp>
        <p:nvSpPr>
          <p:cNvPr id="46" name="Shape 40"/>
          <p:cNvSpPr/>
          <p:nvPr/>
        </p:nvSpPr>
        <p:spPr>
          <a:xfrm>
            <a:off x="6492240" y="503834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7" name="Text 41"/>
          <p:cNvSpPr/>
          <p:nvPr/>
        </p:nvSpPr>
        <p:spPr>
          <a:xfrm>
            <a:off x="6492240" y="5038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6967728" y="502005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SQL</a:t>
            </a:r>
            <a:endParaRPr lang="en-US" sz="1300" dirty="0"/>
          </a:p>
        </p:txBody>
      </p:sp>
      <p:sp>
        <p:nvSpPr>
          <p:cNvPr id="49" name="Shape 43"/>
          <p:cNvSpPr/>
          <p:nvPr/>
        </p:nvSpPr>
        <p:spPr>
          <a:xfrm>
            <a:off x="6647688" y="5349240"/>
            <a:ext cx="0" cy="114300"/>
          </a:xfrm>
          <a:prstGeom prst="line">
            <a:avLst/>
          </a:prstGeom>
          <a:noFill/>
          <a:ln w="15875">
            <a:solidFill>
              <a:srgbClr val="C9A94F"/>
            </a:solidFill>
            <a:prstDash val="sysDot"/>
          </a:ln>
        </p:spPr>
      </p:sp>
      <p:sp>
        <p:nvSpPr>
          <p:cNvPr id="50" name="Shape 44"/>
          <p:cNvSpPr/>
          <p:nvPr/>
        </p:nvSpPr>
        <p:spPr>
          <a:xfrm>
            <a:off x="6492240" y="546354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1" name="Text 45"/>
          <p:cNvSpPr/>
          <p:nvPr/>
        </p:nvSpPr>
        <p:spPr>
          <a:xfrm>
            <a:off x="6492240" y="54635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2" name="Text 46"/>
          <p:cNvSpPr/>
          <p:nvPr/>
        </p:nvSpPr>
        <p:spPr>
          <a:xfrm>
            <a:off x="6967728" y="544525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Business Questions</a:t>
            </a:r>
            <a:endParaRPr lang="en-US" sz="1300" dirty="0"/>
          </a:p>
        </p:txBody>
      </p:sp>
      <p:sp>
        <p:nvSpPr>
          <p:cNvPr id="53" name="Text 4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MANAGEMENT DATABASE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relational tables, split conceptually into master data (what exists) and transactional data (what happened).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pic>
        <p:nvPicPr>
          <p:cNvPr id="5" name="Image 0" descr="/home/claude/hotel_ppt/icon_databas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0756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31012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information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37673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405993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hotel room data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45171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food_items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480974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Hotel's food / menu items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52669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555955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information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97680" y="1783080"/>
            <a:ext cx="4251960" cy="4160520"/>
          </a:xfrm>
          <a:prstGeom prst="roundRect">
            <a:avLst>
              <a:gd name="adj" fmla="val 2198"/>
            </a:avLst>
          </a:prstGeom>
          <a:solidFill>
            <a:srgbClr val="F4F6FC"/>
          </a:solidFill>
          <a:ln/>
        </p:spPr>
      </p:sp>
      <p:pic>
        <p:nvPicPr>
          <p:cNvPr id="17" name="Image 1" descr="/home/claude/hotel_ppt/icon_lay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57400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74920" y="20756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&amp; OPERATIONAL DATA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7200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572000" y="3017520"/>
            <a:ext cx="196596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room_allocations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583680" y="3017520"/>
            <a:ext cx="192024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room stays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72000" y="3424428"/>
            <a:ext cx="196596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food_orders / order_items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583680" y="3424428"/>
            <a:ext cx="192024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during a stay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572000" y="3831336"/>
            <a:ext cx="196596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583680" y="3831336"/>
            <a:ext cx="192024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payments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572000" y="4238244"/>
            <a:ext cx="196596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583680" y="4238244"/>
            <a:ext cx="192024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staff attendance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4572000" y="4645152"/>
            <a:ext cx="196596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room_services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6583680" y="4645152"/>
            <a:ext cx="192024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during a stay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4572000" y="5052060"/>
            <a:ext cx="196596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expenses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583680" y="5052060"/>
            <a:ext cx="192024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expenses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4572000" y="5458968"/>
            <a:ext cx="196596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staff_performance_reviews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6583680" y="5458968"/>
            <a:ext cx="192024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staff evaluations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8869680" y="1783080"/>
            <a:ext cx="2770632" cy="4160520"/>
          </a:xfrm>
          <a:prstGeom prst="roundRect">
            <a:avLst>
              <a:gd name="adj" fmla="val 3300"/>
            </a:avLst>
          </a:prstGeom>
          <a:solidFill>
            <a:srgbClr val="161C4A"/>
          </a:solidFill>
          <a:ln/>
        </p:spPr>
      </p:sp>
      <p:pic>
        <p:nvPicPr>
          <p:cNvPr id="35" name="Image 2" descr="/home/claude/hotel_ppt/icon_char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057400"/>
            <a:ext cx="365760" cy="36576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9098280" y="2532888"/>
            <a:ext cx="2313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BE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9098280" y="3291840"/>
            <a:ext cx="2313432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38" name="Text 33"/>
          <p:cNvSpPr/>
          <p:nvPr/>
        </p:nvSpPr>
        <p:spPr>
          <a:xfrm>
            <a:off x="9098280" y="3291840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50" dirty="0"/>
          </a:p>
        </p:txBody>
      </p:sp>
      <p:sp>
        <p:nvSpPr>
          <p:cNvPr id="39" name="Shape 34"/>
          <p:cNvSpPr/>
          <p:nvPr/>
        </p:nvSpPr>
        <p:spPr>
          <a:xfrm>
            <a:off x="9098280" y="3913632"/>
            <a:ext cx="2313432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40" name="Text 35"/>
          <p:cNvSpPr/>
          <p:nvPr/>
        </p:nvSpPr>
        <p:spPr>
          <a:xfrm>
            <a:off x="9098280" y="3913632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250" dirty="0"/>
          </a:p>
        </p:txBody>
      </p:sp>
      <p:sp>
        <p:nvSpPr>
          <p:cNvPr id="41" name="Shape 36"/>
          <p:cNvSpPr/>
          <p:nvPr/>
        </p:nvSpPr>
        <p:spPr>
          <a:xfrm>
            <a:off x="9098280" y="4535424"/>
            <a:ext cx="2313432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42" name="Text 37"/>
          <p:cNvSpPr/>
          <p:nvPr/>
        </p:nvSpPr>
        <p:spPr>
          <a:xfrm>
            <a:off x="9098280" y="4535424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250" dirty="0"/>
          </a:p>
        </p:txBody>
      </p:sp>
      <p:sp>
        <p:nvSpPr>
          <p:cNvPr id="43" name="Shape 38"/>
          <p:cNvSpPr/>
          <p:nvPr/>
        </p:nvSpPr>
        <p:spPr>
          <a:xfrm>
            <a:off x="9098280" y="5157216"/>
            <a:ext cx="2313432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44" name="Text 39"/>
          <p:cNvSpPr/>
          <p:nvPr/>
        </p:nvSpPr>
        <p:spPr>
          <a:xfrm>
            <a:off x="9098280" y="5157216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%</a:t>
            </a:r>
            <a:endParaRPr lang="en-US" sz="1250" dirty="0"/>
          </a:p>
        </p:txBody>
      </p:sp>
      <p:sp>
        <p:nvSpPr>
          <p:cNvPr id="45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MANAGEMENT DATABASE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Design &amp; Data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relationships between business entities, not a single flat table.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920240" cy="621792"/>
          </a:xfrm>
          <a:prstGeom prst="roundRect">
            <a:avLst>
              <a:gd name="adj" fmla="val 1029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1783080"/>
            <a:ext cx="1810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00200" y="2404872"/>
            <a:ext cx="182880" cy="292608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2697480"/>
            <a:ext cx="2286000" cy="621792"/>
          </a:xfrm>
          <a:prstGeom prst="roundRect">
            <a:avLst>
              <a:gd name="adj" fmla="val 1029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2697480"/>
            <a:ext cx="21762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ROOM_ALLOCATIONS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97280" y="3319272"/>
            <a:ext cx="182880" cy="475488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" y="3794760"/>
            <a:ext cx="1554480" cy="621792"/>
          </a:xfrm>
          <a:prstGeom prst="roundRect">
            <a:avLst>
              <a:gd name="adj" fmla="val 10294"/>
            </a:avLst>
          </a:prstGeom>
          <a:solidFill>
            <a:srgbClr val="C9A94F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" y="3794760"/>
            <a:ext cx="1444752" cy="37307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4904" y="4155399"/>
            <a:ext cx="1444752" cy="2487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room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54580" y="3319272"/>
            <a:ext cx="914400" cy="475488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31720" y="3794760"/>
            <a:ext cx="1874520" cy="621792"/>
          </a:xfrm>
          <a:prstGeom prst="roundRect">
            <a:avLst>
              <a:gd name="adj" fmla="val 10294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2386584" y="3794760"/>
            <a:ext cx="1764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FOOD_ORDERS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68980" y="4416552"/>
            <a:ext cx="0" cy="429768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331720" y="4846320"/>
            <a:ext cx="1874520" cy="621792"/>
          </a:xfrm>
          <a:prstGeom prst="roundRect">
            <a:avLst>
              <a:gd name="adj" fmla="val 10294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2386584" y="4846320"/>
            <a:ext cx="1764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68980" y="5468112"/>
            <a:ext cx="0" cy="429768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331720" y="5897880"/>
            <a:ext cx="1874520" cy="621792"/>
          </a:xfrm>
          <a:prstGeom prst="roundRect">
            <a:avLst>
              <a:gd name="adj" fmla="val 10294"/>
            </a:avLst>
          </a:prstGeom>
          <a:solidFill>
            <a:srgbClr val="C9A94F"/>
          </a:solidFill>
          <a:ln/>
        </p:spPr>
      </p:sp>
      <p:sp>
        <p:nvSpPr>
          <p:cNvPr id="21" name="Text 19"/>
          <p:cNvSpPr/>
          <p:nvPr/>
        </p:nvSpPr>
        <p:spPr>
          <a:xfrm>
            <a:off x="2386584" y="5897880"/>
            <a:ext cx="1764792" cy="37307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FOOD_ITEMS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386584" y="6258519"/>
            <a:ext cx="1764792" cy="2487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data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26080" y="3008376"/>
            <a:ext cx="1783080" cy="0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09160" y="2697480"/>
            <a:ext cx="1645920" cy="621792"/>
          </a:xfrm>
          <a:prstGeom prst="roundRect">
            <a:avLst>
              <a:gd name="adj" fmla="val 10294"/>
            </a:avLst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4764024" y="2697480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485632" y="1783080"/>
            <a:ext cx="1737360" cy="621792"/>
          </a:xfrm>
          <a:prstGeom prst="roundRect">
            <a:avLst>
              <a:gd name="adj" fmla="val 10294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540496" y="1783080"/>
            <a:ext cx="1627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75120" y="3063240"/>
            <a:ext cx="1691640" cy="822960"/>
          </a:xfrm>
          <a:prstGeom prst="roundRect">
            <a:avLst>
              <a:gd name="adj" fmla="val 7778"/>
            </a:avLst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6729984" y="3063240"/>
            <a:ext cx="1581912" cy="4937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729984" y="3540557"/>
            <a:ext cx="15819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20940" y="2404872"/>
            <a:ext cx="1833372" cy="658368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503920" y="3063240"/>
            <a:ext cx="1691640" cy="822960"/>
          </a:xfrm>
          <a:prstGeom prst="roundRect">
            <a:avLst>
              <a:gd name="adj" fmla="val 7778"/>
            </a:avLst>
          </a:prstGeom>
          <a:solidFill>
            <a:srgbClr val="C9A94F"/>
          </a:solidFill>
          <a:ln/>
        </p:spPr>
      </p:sp>
      <p:sp>
        <p:nvSpPr>
          <p:cNvPr id="33" name="Text 31"/>
          <p:cNvSpPr/>
          <p:nvPr/>
        </p:nvSpPr>
        <p:spPr>
          <a:xfrm>
            <a:off x="8558784" y="3063240"/>
            <a:ext cx="1581912" cy="4937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ROOM_SERVICES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558784" y="3540557"/>
            <a:ext cx="15819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given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349740" y="2404872"/>
            <a:ext cx="4572" cy="658368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332720" y="3063240"/>
            <a:ext cx="1691640" cy="822960"/>
          </a:xfrm>
          <a:prstGeom prst="roundRect">
            <a:avLst>
              <a:gd name="adj" fmla="val 7778"/>
            </a:avLst>
          </a:prstGeom>
          <a:solidFill>
            <a:srgbClr val="CADCFC"/>
          </a:solidFill>
          <a:ln/>
        </p:spPr>
      </p:sp>
      <p:sp>
        <p:nvSpPr>
          <p:cNvPr id="37" name="Text 35"/>
          <p:cNvSpPr/>
          <p:nvPr/>
        </p:nvSpPr>
        <p:spPr>
          <a:xfrm>
            <a:off x="10387584" y="3063240"/>
            <a:ext cx="1581912" cy="4937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387584" y="3540557"/>
            <a:ext cx="158191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reviews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354312" y="2404872"/>
            <a:ext cx="1824228" cy="658368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298180" y="4434840"/>
            <a:ext cx="2103120" cy="822960"/>
          </a:xfrm>
          <a:prstGeom prst="roundRect">
            <a:avLst>
              <a:gd name="adj" fmla="val 7778"/>
            </a:avLst>
          </a:prstGeom>
          <a:solidFill>
            <a:srgbClr val="161C4A"/>
          </a:solidFill>
          <a:ln/>
        </p:spPr>
      </p:sp>
      <p:sp>
        <p:nvSpPr>
          <p:cNvPr id="41" name="Text 39"/>
          <p:cNvSpPr/>
          <p:nvPr/>
        </p:nvSpPr>
        <p:spPr>
          <a:xfrm>
            <a:off x="8353044" y="4434840"/>
            <a:ext cx="1993392" cy="4937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353044" y="4912157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hotel-wide costs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MANAGEMENT DATABASE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modeling choices that keep the schema normalized and historically accurate.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hotel_ppt/icon_be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2539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vs. Room Allocation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2971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room and a customer's stay are different concepts. Room 101 can have Allocation #1 (Customer A, July) and Allocation #2 (Customer B, August) — the same room, multiple stays, full history preserved.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hotel_ppt/icon_utensil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596" y="225399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8803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Items vs. Orders vs. Order Items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17720" y="3611880"/>
            <a:ext cx="2971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 can hold several dishes — e.g. Order #1001: Chicken Biryani ×2, Butter Naan ×4, Masala Tea ×2. Menu data, order data, and line items are kept in separate tables.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4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hotel_ppt/icon_char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356" y="225399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8803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Profit as Derived Metrics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12480" y="3611880"/>
            <a:ext cx="2971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profit aren't stored directly. They're calculated: successful payments roll up into revenue, and revenue minus expenses becomes profit — computed dynamically, not duplicated.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MANAGEMENT DATABASE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 &amp; Sample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keep the data trustworthy; realistic sample data makes the analysis meaningful.</a:t>
            </a:r>
            <a:endParaRPr lang="en-US" sz="1400" dirty="0"/>
          </a:p>
        </p:txBody>
      </p:sp>
      <p:pic>
        <p:nvPicPr>
          <p:cNvPr id="4" name="Image 0" descr="/home/claude/hotel_ppt/icon_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105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APPLIED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82296" cy="566928"/>
          </a:xfrm>
          <a:prstGeom prst="roundRect">
            <a:avLst/>
          </a:prstGeom>
          <a:solidFill>
            <a:srgbClr val="C9A94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313432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/ FOREIGN KEYS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59689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uniquely identified; relationships enforced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044952"/>
            <a:ext cx="82296" cy="566928"/>
          </a:xfrm>
          <a:prstGeom prst="roundRect">
            <a:avLst/>
          </a:prstGeom>
          <a:solidFill>
            <a:srgbClr val="C9A94F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026664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3101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negative prices and invalid scores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758184"/>
            <a:ext cx="82296" cy="566928"/>
          </a:xfrm>
          <a:prstGeom prst="roundRect">
            <a:avLst/>
          </a:prstGeom>
          <a:solidFill>
            <a:srgbClr val="C9A94F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739896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room numbers or attendance entries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471416"/>
            <a:ext cx="82296" cy="566928"/>
          </a:xfrm>
          <a:prstGeom prst="roundRect">
            <a:avLst/>
          </a:prstGeom>
          <a:solidFill>
            <a:srgbClr val="C9A94F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453128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/ DEFAULT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7240" y="47365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complete records</a:t>
            </a:r>
            <a:endParaRPr lang="en-US" sz="1100" dirty="0"/>
          </a:p>
        </p:txBody>
      </p:sp>
      <p:pic>
        <p:nvPicPr>
          <p:cNvPr id="18" name="Image 1" descr="/home/claude/hotel_ppt/icon_clipboar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675120" y="18105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AT A GLANCE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217920" y="2331720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21" name="Text 17"/>
          <p:cNvSpPr/>
          <p:nvPr/>
        </p:nvSpPr>
        <p:spPr>
          <a:xfrm>
            <a:off x="6217920" y="244144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6217920" y="308152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138160" y="2331720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24" name="Text 20"/>
          <p:cNvSpPr/>
          <p:nvPr/>
        </p:nvSpPr>
        <p:spPr>
          <a:xfrm>
            <a:off x="8138160" y="244144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25" name="Text 21"/>
          <p:cNvSpPr/>
          <p:nvPr/>
        </p:nvSpPr>
        <p:spPr>
          <a:xfrm>
            <a:off x="8138160" y="308152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10058400" y="2331720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27" name="Text 23"/>
          <p:cNvSpPr/>
          <p:nvPr/>
        </p:nvSpPr>
        <p:spPr>
          <a:xfrm>
            <a:off x="10058400" y="244144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28" name="Text 24"/>
          <p:cNvSpPr/>
          <p:nvPr/>
        </p:nvSpPr>
        <p:spPr>
          <a:xfrm>
            <a:off x="10058400" y="3081528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217920" y="3639312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30" name="Text 26"/>
          <p:cNvSpPr/>
          <p:nvPr/>
        </p:nvSpPr>
        <p:spPr>
          <a:xfrm>
            <a:off x="6217920" y="374904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31" name="Text 27"/>
          <p:cNvSpPr/>
          <p:nvPr/>
        </p:nvSpPr>
        <p:spPr>
          <a:xfrm>
            <a:off x="6217920" y="4389120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Orders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8138160" y="3639312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33" name="Text 29"/>
          <p:cNvSpPr/>
          <p:nvPr/>
        </p:nvSpPr>
        <p:spPr>
          <a:xfrm>
            <a:off x="8138160" y="374904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000" dirty="0"/>
          </a:p>
        </p:txBody>
      </p:sp>
      <p:sp>
        <p:nvSpPr>
          <p:cNvPr id="34" name="Text 30"/>
          <p:cNvSpPr/>
          <p:nvPr/>
        </p:nvSpPr>
        <p:spPr>
          <a:xfrm>
            <a:off x="8138160" y="4389120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10058400" y="3639312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36" name="Text 32"/>
          <p:cNvSpPr/>
          <p:nvPr/>
        </p:nvSpPr>
        <p:spPr>
          <a:xfrm>
            <a:off x="10058400" y="374904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37" name="Text 33"/>
          <p:cNvSpPr/>
          <p:nvPr/>
        </p:nvSpPr>
        <p:spPr>
          <a:xfrm>
            <a:off x="10058400" y="4389120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6217920" y="4946904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39" name="Text 35"/>
          <p:cNvSpPr/>
          <p:nvPr/>
        </p:nvSpPr>
        <p:spPr>
          <a:xfrm>
            <a:off x="6217920" y="505663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40" name="Text 36"/>
          <p:cNvSpPr/>
          <p:nvPr/>
        </p:nvSpPr>
        <p:spPr>
          <a:xfrm>
            <a:off x="6217920" y="569671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8138160" y="4946904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42" name="Text 38"/>
          <p:cNvSpPr/>
          <p:nvPr/>
        </p:nvSpPr>
        <p:spPr>
          <a:xfrm>
            <a:off x="8138160" y="505663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000" dirty="0"/>
          </a:p>
        </p:txBody>
      </p:sp>
      <p:sp>
        <p:nvSpPr>
          <p:cNvPr id="43" name="Text 39"/>
          <p:cNvSpPr/>
          <p:nvPr/>
        </p:nvSpPr>
        <p:spPr>
          <a:xfrm>
            <a:off x="8138160" y="569671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Records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10058400" y="4946904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45" name="Text 41"/>
          <p:cNvSpPr/>
          <p:nvPr/>
        </p:nvSpPr>
        <p:spPr>
          <a:xfrm>
            <a:off x="10058400" y="505663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46" name="Text 42"/>
          <p:cNvSpPr/>
          <p:nvPr/>
        </p:nvSpPr>
        <p:spPr>
          <a:xfrm>
            <a:off x="10058400" y="569671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MANAGEMENT DATABASE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 It Can Answer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SQL syntax practice toward real business decision-making.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hotel_ppt/icon_be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560320"/>
            <a:ext cx="2295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Rooms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3154680"/>
            <a:ext cx="22951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rooms are currently available?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9808" y="4050792"/>
            <a:ext cx="22951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is the average length of stay?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" y="4946904"/>
            <a:ext cx="22951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is the hotel's occupancy rate?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47288" y="169164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4F6FC"/>
          </a:solidFill>
          <a:ln/>
        </p:spPr>
      </p:sp>
      <p:sp>
        <p:nvSpPr>
          <p:cNvPr id="12" name="Shape 9"/>
          <p:cNvSpPr/>
          <p:nvPr/>
        </p:nvSpPr>
        <p:spPr>
          <a:xfrm>
            <a:off x="3675888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hotel_ppt/icon_utensil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332" y="204368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48456" y="2560320"/>
            <a:ext cx="2295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648456" y="3154680"/>
            <a:ext cx="22951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food items are ordered most?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648456" y="4050792"/>
            <a:ext cx="22951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category has highest demand?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648456" y="4946904"/>
            <a:ext cx="22951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is the average order value?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345936" y="169164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4F6FC"/>
          </a:solidFill>
          <a:ln/>
        </p:spPr>
      </p:sp>
      <p:sp>
        <p:nvSpPr>
          <p:cNvPr id="19" name="Shape 15"/>
          <p:cNvSpPr/>
          <p:nvPr/>
        </p:nvSpPr>
        <p:spPr>
          <a:xfrm>
            <a:off x="6574536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hotel_ppt/icon_coins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80" y="204368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47104" y="2560320"/>
            <a:ext cx="2295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Finance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547104" y="3154680"/>
            <a:ext cx="22951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month generated highest revenue?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547104" y="4050792"/>
            <a:ext cx="22951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much collected from payments?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547104" y="4946904"/>
            <a:ext cx="22951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Top expense category?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244584" y="169164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4F6FC"/>
          </a:solidFill>
          <a:ln/>
        </p:spPr>
      </p:sp>
      <p:sp>
        <p:nvSpPr>
          <p:cNvPr id="26" name="Shape 21"/>
          <p:cNvSpPr/>
          <p:nvPr/>
        </p:nvSpPr>
        <p:spPr>
          <a:xfrm>
            <a:off x="9473184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/home/claude/hotel_ppt/icon_users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6628" y="204368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445752" y="2560320"/>
            <a:ext cx="2295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9445752" y="3154680"/>
            <a:ext cx="22951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Who has the highest attendance?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9445752" y="4050792"/>
            <a:ext cx="22951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Highest performance scores?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9445752" y="4946904"/>
            <a:ext cx="22951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Who is eligible for promotion?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MANAGEMENT DATABASE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97680"/>
            <a:ext cx="4572000" cy="45720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Skills Practiced &amp; What's Next</a:t>
            </a:r>
            <a:endParaRPr lang="en-US" sz="2800" dirty="0"/>
          </a:p>
        </p:txBody>
      </p:sp>
      <p:pic>
        <p:nvPicPr>
          <p:cNvPr id="4" name="Image 0" descr="/home/claude/hotel_ppt/icon_diagram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2527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CONCEPTS COVERED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Basics: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965960" y="16916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· WHERE · ORDER BY · INSERT/UPDATE/DELETE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22585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Aggregation: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965960" y="22585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· SUM · AVG · GROUP BY · HAVING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282549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965960" y="282549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INNER/LEFT JOIN · multi-table joins · PK/FK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339242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Intermediate: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965960" y="339242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· CASE · date/string functions · conditional aggregation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63640" y="1234440"/>
            <a:ext cx="0" cy="4937760"/>
          </a:xfrm>
          <a:prstGeom prst="line">
            <a:avLst/>
          </a:prstGeom>
          <a:noFill/>
          <a:ln w="9525">
            <a:solidFill>
              <a:srgbClr val="4A5578"/>
            </a:solidFill>
            <a:prstDash val="solid"/>
          </a:ln>
        </p:spPr>
      </p:sp>
      <p:pic>
        <p:nvPicPr>
          <p:cNvPr id="15" name="Image 1" descr="/home/claude/hotel_ppt/icon_bullsey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3444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95160" y="12527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583680" y="1746504"/>
            <a:ext cx="82296" cy="82296"/>
          </a:xfrm>
          <a:prstGeom prst="ellipse">
            <a:avLst/>
          </a:prstGeom>
          <a:solidFill>
            <a:srgbClr val="C9A94F"/>
          </a:solidFill>
          <a:ln/>
        </p:spPr>
      </p:sp>
      <p:sp>
        <p:nvSpPr>
          <p:cNvPr id="18" name="Text 14"/>
          <p:cNvSpPr/>
          <p:nvPr/>
        </p:nvSpPr>
        <p:spPr>
          <a:xfrm>
            <a:off x="6784848" y="16367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/ reservation management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583680" y="2203704"/>
            <a:ext cx="82296" cy="82296"/>
          </a:xfrm>
          <a:prstGeom prst="ellipse">
            <a:avLst/>
          </a:prstGeom>
          <a:solidFill>
            <a:srgbClr val="C9A94F"/>
          </a:solidFill>
          <a:ln/>
        </p:spPr>
      </p:sp>
      <p:sp>
        <p:nvSpPr>
          <p:cNvPr id="20" name="Text 16"/>
          <p:cNvSpPr/>
          <p:nvPr/>
        </p:nvSpPr>
        <p:spPr>
          <a:xfrm>
            <a:off x="6784848" y="20939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 &amp; feedback system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583680" y="2660904"/>
            <a:ext cx="82296" cy="82296"/>
          </a:xfrm>
          <a:prstGeom prst="ellipse">
            <a:avLst/>
          </a:prstGeom>
          <a:solidFill>
            <a:srgbClr val="C9A94F"/>
          </a:solidFill>
          <a:ln/>
        </p:spPr>
      </p:sp>
      <p:sp>
        <p:nvSpPr>
          <p:cNvPr id="22" name="Text 18"/>
          <p:cNvSpPr/>
          <p:nvPr/>
        </p:nvSpPr>
        <p:spPr>
          <a:xfrm>
            <a:off x="6784848" y="25511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management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583680" y="3118104"/>
            <a:ext cx="82296" cy="82296"/>
          </a:xfrm>
          <a:prstGeom prst="ellipse">
            <a:avLst/>
          </a:prstGeom>
          <a:solidFill>
            <a:srgbClr val="C9A94F"/>
          </a:solidFill>
          <a:ln/>
        </p:spPr>
      </p:sp>
      <p:sp>
        <p:nvSpPr>
          <p:cNvPr id="24" name="Text 20"/>
          <p:cNvSpPr/>
          <p:nvPr/>
        </p:nvSpPr>
        <p:spPr>
          <a:xfrm>
            <a:off x="6784848" y="30083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supplier management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583680" y="3575304"/>
            <a:ext cx="82296" cy="82296"/>
          </a:xfrm>
          <a:prstGeom prst="ellipse">
            <a:avLst/>
          </a:prstGeom>
          <a:solidFill>
            <a:srgbClr val="C9A94F"/>
          </a:solidFill>
          <a:ln/>
        </p:spPr>
      </p:sp>
      <p:sp>
        <p:nvSpPr>
          <p:cNvPr id="26" name="Text 22"/>
          <p:cNvSpPr/>
          <p:nvPr/>
        </p:nvSpPr>
        <p:spPr>
          <a:xfrm>
            <a:off x="6784848" y="34655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occupancy dashboards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583680" y="4032504"/>
            <a:ext cx="82296" cy="82296"/>
          </a:xfrm>
          <a:prstGeom prst="ellipse">
            <a:avLst/>
          </a:prstGeom>
          <a:solidFill>
            <a:srgbClr val="C9A94F"/>
          </a:solidFill>
          <a:ln/>
        </p:spPr>
      </p:sp>
      <p:sp>
        <p:nvSpPr>
          <p:cNvPr id="28" name="Text 24"/>
          <p:cNvSpPr/>
          <p:nvPr/>
        </p:nvSpPr>
        <p:spPr>
          <a:xfrm>
            <a:off x="6784848" y="39227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&amp; CTEs; Power BI integration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61C4A"/>
          </a:solidFill>
          <a:ln w="9525">
            <a:solidFill>
              <a:srgbClr val="C9A94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real goal: bridging Database Management → SQL → Business Understanding → Data Analysis.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2026-08-25T07:59:09Z</dcterms:created>
  <dcterms:modified xsi:type="dcterms:W3CDTF">2026-08-25T07:59:09Z</dcterms:modified>
</cp:coreProperties>
</file>